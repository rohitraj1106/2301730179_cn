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365eeeb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6365eeebe_2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365eeebe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365eeebe_2_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365eeebe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6365eeebe_2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365eeebe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6365eeebe_2_1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365eeebe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6365eeebe_2_1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0" y="5095875"/>
            <a:ext cx="9144000" cy="477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3901275" y="1098200"/>
            <a:ext cx="1428900" cy="1428900"/>
            <a:chOff x="0" y="0"/>
            <a:chExt cx="1428900" cy="142890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1428900" cy="14289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0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/>
                <a:t>🛡️</a:t>
              </a:r>
              <a:endParaRPr sz="6000"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1542075" y="127101"/>
            <a:ext cx="61473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NETWORKS</a:t>
            </a:r>
            <a:endParaRPr b="1" sz="2600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2857500" y="3238500"/>
            <a:ext cx="3429000" cy="1333500"/>
            <a:chOff x="2857500" y="3238500"/>
            <a:chExt cx="3429000" cy="1333500"/>
          </a:xfrm>
        </p:grpSpPr>
        <p:sp>
          <p:nvSpPr>
            <p:cNvPr id="91" name="Google Shape;91;p13"/>
            <p:cNvSpPr/>
            <p:nvPr/>
          </p:nvSpPr>
          <p:spPr>
            <a:xfrm>
              <a:off x="2857500" y="3238500"/>
              <a:ext cx="3429000" cy="1333500"/>
            </a:xfrm>
            <a:prstGeom prst="roundRect">
              <a:avLst>
                <a:gd fmla="val 14285" name="adj"/>
              </a:avLst>
            </a:prstGeom>
            <a:solidFill>
              <a:srgbClr val="141F35"/>
            </a:solidFill>
            <a:ln cap="flat" cmpd="sng" w="9525">
              <a:solidFill>
                <a:srgbClr val="009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2857500" y="3238500"/>
              <a:ext cx="342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 u="sng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Name: Rohit Raj</a:t>
              </a:r>
              <a:endParaRPr b="1" sz="16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 u="sng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Class: B.tech cse aiml - C</a:t>
              </a:r>
              <a:endParaRPr b="1" sz="16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 u="sng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Roll no.: 2301730179</a:t>
              </a:r>
              <a:endParaRPr b="1" sz="16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3" name="Google Shape;93;p13"/>
          <p:cNvSpPr txBox="1"/>
          <p:nvPr/>
        </p:nvSpPr>
        <p:spPr>
          <a:xfrm>
            <a:off x="3072000" y="25271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:  </a:t>
            </a:r>
            <a:r>
              <a:rPr b="1"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Firewall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48655" y="27432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01  |  INTRODUCTION</a:t>
            </a:r>
            <a:endParaRPr sz="1100"/>
          </a:p>
        </p:txBody>
      </p:sp>
      <p:sp>
        <p:nvSpPr>
          <p:cNvPr id="100" name="Google Shape;100;p14"/>
          <p:cNvSpPr txBox="1"/>
          <p:nvPr/>
        </p:nvSpPr>
        <p:spPr>
          <a:xfrm>
            <a:off x="548655" y="629483"/>
            <a:ext cx="75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Firewall?</a:t>
            </a:r>
            <a:endParaRPr sz="1100" u="sng"/>
          </a:p>
        </p:txBody>
      </p:sp>
      <p:sp>
        <p:nvSpPr>
          <p:cNvPr id="101" name="Google Shape;101;p14"/>
          <p:cNvSpPr/>
          <p:nvPr/>
        </p:nvSpPr>
        <p:spPr>
          <a:xfrm>
            <a:off x="548655" y="1440180"/>
            <a:ext cx="4800728" cy="1097280"/>
          </a:xfrm>
          <a:prstGeom prst="roundRect">
            <a:avLst>
              <a:gd fmla="val 16667" name="adj"/>
            </a:avLst>
          </a:prstGeom>
          <a:solidFill>
            <a:srgbClr val="141F35"/>
          </a:solidFill>
          <a:ln cap="flat" cmpd="sng" w="12700">
            <a:solidFill>
              <a:srgbClr val="009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54400" y="1543050"/>
            <a:ext cx="4457819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 firewall is a network security device or software that monitors and filters incoming and outgoing network traffic based on an organisation's previously established security policies.</a:t>
            </a:r>
            <a:endParaRPr sz="1100"/>
          </a:p>
        </p:txBody>
      </p:sp>
      <p:sp>
        <p:nvSpPr>
          <p:cNvPr id="103" name="Google Shape;103;p14"/>
          <p:cNvSpPr txBox="1"/>
          <p:nvPr/>
        </p:nvSpPr>
        <p:spPr>
          <a:xfrm>
            <a:off x="548655" y="2743200"/>
            <a:ext cx="788691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3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Acts as a barrier between a trusted internal network and untrusted external networks (e.g., the Internet)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3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Inspects data packets and decides whether to allow or block them based on predefined rules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3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Can be hardware-based, software-based, or a combination of both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3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Operates at different layers of the OSI model depending on the type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3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First line of defence in any network security architecture</a:t>
            </a:r>
            <a:endParaRPr sz="1100"/>
          </a:p>
        </p:txBody>
      </p:sp>
      <p:sp>
        <p:nvSpPr>
          <p:cNvPr id="104" name="Google Shape;104;p14"/>
          <p:cNvSpPr/>
          <p:nvPr/>
        </p:nvSpPr>
        <p:spPr>
          <a:xfrm>
            <a:off x="7201092" y="1508760"/>
            <a:ext cx="1371637" cy="1371600"/>
          </a:xfrm>
          <a:prstGeom prst="ellipse">
            <a:avLst/>
          </a:prstGeom>
          <a:solidFill>
            <a:srgbClr val="141F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201092" y="1748790"/>
            <a:ext cx="13716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1100"/>
          </a:p>
        </p:txBody>
      </p:sp>
      <p:sp>
        <p:nvSpPr>
          <p:cNvPr id="106" name="Google Shape;106;p14"/>
          <p:cNvSpPr/>
          <p:nvPr/>
        </p:nvSpPr>
        <p:spPr>
          <a:xfrm>
            <a:off x="0" y="5102352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48655" y="27432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02  |  CLASSIFICATION</a:t>
            </a:r>
            <a:endParaRPr sz="1100"/>
          </a:p>
        </p:txBody>
      </p:sp>
      <p:sp>
        <p:nvSpPr>
          <p:cNvPr id="113" name="Google Shape;113;p15"/>
          <p:cNvSpPr txBox="1"/>
          <p:nvPr/>
        </p:nvSpPr>
        <p:spPr>
          <a:xfrm>
            <a:off x="548655" y="617220"/>
            <a:ext cx="75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Firewalls</a:t>
            </a:r>
            <a:endParaRPr sz="1100" u="sng"/>
          </a:p>
        </p:txBody>
      </p:sp>
      <p:sp>
        <p:nvSpPr>
          <p:cNvPr id="114" name="Google Shape;114;p15"/>
          <p:cNvSpPr/>
          <p:nvPr/>
        </p:nvSpPr>
        <p:spPr>
          <a:xfrm>
            <a:off x="411491" y="1440180"/>
            <a:ext cx="2606109" cy="164592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19050">
            <a:solidFill>
              <a:srgbClr val="009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7236" y="157734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🧱  Packet Filtering</a:t>
            </a:r>
            <a:endParaRPr sz="1100"/>
          </a:p>
        </p:txBody>
      </p:sp>
      <p:sp>
        <p:nvSpPr>
          <p:cNvPr id="116" name="Google Shape;116;p15"/>
          <p:cNvSpPr txBox="1"/>
          <p:nvPr/>
        </p:nvSpPr>
        <p:spPr>
          <a:xfrm>
            <a:off x="617236" y="192024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Works at Network Layer (L3)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Checks source/dest IP &amp; port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Fast but limited inspection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Stateless — no context</a:t>
            </a:r>
            <a:endParaRPr sz="1100"/>
          </a:p>
        </p:txBody>
      </p:sp>
      <p:sp>
        <p:nvSpPr>
          <p:cNvPr id="117" name="Google Shape;117;p15"/>
          <p:cNvSpPr/>
          <p:nvPr/>
        </p:nvSpPr>
        <p:spPr>
          <a:xfrm>
            <a:off x="3257637" y="1440180"/>
            <a:ext cx="2606109" cy="164592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463382" y="157734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🔗  Stateful Inspection</a:t>
            </a:r>
            <a:endParaRPr sz="1100"/>
          </a:p>
        </p:txBody>
      </p:sp>
      <p:sp>
        <p:nvSpPr>
          <p:cNvPr id="119" name="Google Shape;119;p15"/>
          <p:cNvSpPr txBox="1"/>
          <p:nvPr/>
        </p:nvSpPr>
        <p:spPr>
          <a:xfrm>
            <a:off x="3463382" y="192024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Tracks active connections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Maintains state table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Context-aware decisions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Stronger than packet filtering</a:t>
            </a:r>
            <a:endParaRPr sz="1100"/>
          </a:p>
        </p:txBody>
      </p:sp>
      <p:sp>
        <p:nvSpPr>
          <p:cNvPr id="120" name="Google Shape;120;p15"/>
          <p:cNvSpPr/>
          <p:nvPr/>
        </p:nvSpPr>
        <p:spPr>
          <a:xfrm>
            <a:off x="6103783" y="1440180"/>
            <a:ext cx="2606109" cy="164592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1905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309528" y="157734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🌐  Proxy / Application</a:t>
            </a:r>
            <a:endParaRPr sz="1100"/>
          </a:p>
        </p:txBody>
      </p:sp>
      <p:sp>
        <p:nvSpPr>
          <p:cNvPr id="122" name="Google Shape;122;p15"/>
          <p:cNvSpPr txBox="1"/>
          <p:nvPr/>
        </p:nvSpPr>
        <p:spPr>
          <a:xfrm>
            <a:off x="6309528" y="192024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Operates at Application Layer (L7)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Deep packet inspection (DPI)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Content filtering capabilities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Higher latency, higher security</a:t>
            </a:r>
            <a:endParaRPr sz="1100"/>
          </a:p>
        </p:txBody>
      </p:sp>
      <p:sp>
        <p:nvSpPr>
          <p:cNvPr id="123" name="Google Shape;123;p15"/>
          <p:cNvSpPr/>
          <p:nvPr/>
        </p:nvSpPr>
        <p:spPr>
          <a:xfrm>
            <a:off x="1783128" y="3291840"/>
            <a:ext cx="2606109" cy="164592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19050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988873" y="342900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☁️  Next-Gen Firewall (NGFW)</a:t>
            </a:r>
            <a:endParaRPr sz="1100"/>
          </a:p>
        </p:txBody>
      </p:sp>
      <p:sp>
        <p:nvSpPr>
          <p:cNvPr id="125" name="Google Shape;125;p15"/>
          <p:cNvSpPr txBox="1"/>
          <p:nvPr/>
        </p:nvSpPr>
        <p:spPr>
          <a:xfrm>
            <a:off x="1988873" y="377190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Combines traditional + advanced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Intrusion prevention (IPS)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Application awareness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Threat intelligence feeds</a:t>
            </a:r>
            <a:endParaRPr sz="1100"/>
          </a:p>
        </p:txBody>
      </p:sp>
      <p:sp>
        <p:nvSpPr>
          <p:cNvPr id="126" name="Google Shape;126;p15"/>
          <p:cNvSpPr/>
          <p:nvPr/>
        </p:nvSpPr>
        <p:spPr>
          <a:xfrm>
            <a:off x="4732146" y="3291840"/>
            <a:ext cx="2606109" cy="164592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937892" y="342900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🖥️  Software vs Hardware</a:t>
            </a:r>
            <a:endParaRPr sz="1100"/>
          </a:p>
        </p:txBody>
      </p:sp>
      <p:sp>
        <p:nvSpPr>
          <p:cNvPr id="128" name="Google Shape;128;p15"/>
          <p:cNvSpPr txBox="1"/>
          <p:nvPr/>
        </p:nvSpPr>
        <p:spPr>
          <a:xfrm>
            <a:off x="4937892" y="377190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Software: installed on OS/host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Hardware: dedicated appliance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Cloud-based options growing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Often combined in practice</a:t>
            </a:r>
            <a:endParaRPr sz="1100"/>
          </a:p>
        </p:txBody>
      </p:sp>
      <p:sp>
        <p:nvSpPr>
          <p:cNvPr id="129" name="Google Shape;129;p15"/>
          <p:cNvSpPr/>
          <p:nvPr/>
        </p:nvSpPr>
        <p:spPr>
          <a:xfrm>
            <a:off x="0" y="5102352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48655" y="27432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03  |  MECHANISM</a:t>
            </a:r>
            <a:endParaRPr sz="1100"/>
          </a:p>
        </p:txBody>
      </p:sp>
      <p:sp>
        <p:nvSpPr>
          <p:cNvPr id="136" name="Google Shape;136;p16"/>
          <p:cNvSpPr txBox="1"/>
          <p:nvPr/>
        </p:nvSpPr>
        <p:spPr>
          <a:xfrm>
            <a:off x="548655" y="617220"/>
            <a:ext cx="754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Firewalls Work — Advantages &amp; Limitations</a:t>
            </a:r>
            <a:endParaRPr sz="1100" u="sng"/>
          </a:p>
        </p:txBody>
      </p:sp>
      <p:sp>
        <p:nvSpPr>
          <p:cNvPr id="137" name="Google Shape;137;p16"/>
          <p:cNvSpPr txBox="1"/>
          <p:nvPr/>
        </p:nvSpPr>
        <p:spPr>
          <a:xfrm>
            <a:off x="548655" y="144018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⚙️  Working Mechanism</a:t>
            </a:r>
            <a:endParaRPr sz="1100"/>
          </a:p>
        </p:txBody>
      </p:sp>
      <p:sp>
        <p:nvSpPr>
          <p:cNvPr id="138" name="Google Shape;138;p16"/>
          <p:cNvSpPr txBox="1"/>
          <p:nvPr/>
        </p:nvSpPr>
        <p:spPr>
          <a:xfrm>
            <a:off x="548655" y="1851660"/>
            <a:ext cx="3772001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Incoming packet arrives at firewall interface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Headers inspected: source IP, dest IP, port, protocol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Packet compared against Access Control List (ACL) rules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Rules evaluated top-down; first match determines action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Action: ALLOW, DENY, or LOG the packet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Stateful firewalls also check connection state table</a:t>
            </a:r>
            <a:endParaRPr sz="1100"/>
          </a:p>
        </p:txBody>
      </p:sp>
      <p:sp>
        <p:nvSpPr>
          <p:cNvPr id="139" name="Google Shape;139;p16"/>
          <p:cNvSpPr/>
          <p:nvPr/>
        </p:nvSpPr>
        <p:spPr>
          <a:xfrm>
            <a:off x="4526401" y="1440180"/>
            <a:ext cx="20575" cy="3429000"/>
          </a:xfrm>
          <a:prstGeom prst="rect">
            <a:avLst/>
          </a:prstGeom>
          <a:solidFill>
            <a:srgbClr val="8899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800728" y="144018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✅  Advantages</a:t>
            </a:r>
            <a:endParaRPr sz="1100"/>
          </a:p>
        </p:txBody>
      </p:sp>
      <p:sp>
        <p:nvSpPr>
          <p:cNvPr id="141" name="Google Shape;141;p16"/>
          <p:cNvSpPr txBox="1"/>
          <p:nvPr/>
        </p:nvSpPr>
        <p:spPr>
          <a:xfrm>
            <a:off x="4800728" y="1851660"/>
            <a:ext cx="397774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Prevents unauthorized access to private networks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Blocks malicious traffic &amp; known attack patterns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Enables centralized security management &amp; logging</a:t>
            </a:r>
            <a:endParaRPr sz="1100"/>
          </a:p>
        </p:txBody>
      </p:sp>
      <p:sp>
        <p:nvSpPr>
          <p:cNvPr id="142" name="Google Shape;142;p16"/>
          <p:cNvSpPr txBox="1"/>
          <p:nvPr/>
        </p:nvSpPr>
        <p:spPr>
          <a:xfrm>
            <a:off x="4800728" y="308610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⚠️  Limitations</a:t>
            </a:r>
            <a:endParaRPr sz="1100"/>
          </a:p>
        </p:txBody>
      </p:sp>
      <p:sp>
        <p:nvSpPr>
          <p:cNvPr id="143" name="Google Shape;143;p16"/>
          <p:cNvSpPr txBox="1"/>
          <p:nvPr/>
        </p:nvSpPr>
        <p:spPr>
          <a:xfrm>
            <a:off x="4800728" y="3497580"/>
            <a:ext cx="397774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Cannot protect against internal (insider) threats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Encrypted traffic may bypass inspection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Complex rule sets can cause misconfiguration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Does not replace antivirus / endpoint security</a:t>
            </a:r>
            <a:endParaRPr sz="1100"/>
          </a:p>
        </p:txBody>
      </p:sp>
      <p:sp>
        <p:nvSpPr>
          <p:cNvPr id="144" name="Google Shape;144;p16"/>
          <p:cNvSpPr/>
          <p:nvPr/>
        </p:nvSpPr>
        <p:spPr>
          <a:xfrm>
            <a:off x="0" y="5102352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48655" y="27432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04  |  CONCLUSION</a:t>
            </a:r>
            <a:endParaRPr sz="1100"/>
          </a:p>
        </p:txBody>
      </p:sp>
      <p:sp>
        <p:nvSpPr>
          <p:cNvPr id="151" name="Google Shape;151;p17"/>
          <p:cNvSpPr txBox="1"/>
          <p:nvPr/>
        </p:nvSpPr>
        <p:spPr>
          <a:xfrm>
            <a:off x="548655" y="617220"/>
            <a:ext cx="754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 &amp; Conclusion</a:t>
            </a:r>
            <a:endParaRPr sz="1100" u="sng"/>
          </a:p>
        </p:txBody>
      </p:sp>
      <p:sp>
        <p:nvSpPr>
          <p:cNvPr id="152" name="Google Shape;152;p17"/>
          <p:cNvSpPr/>
          <p:nvPr/>
        </p:nvSpPr>
        <p:spPr>
          <a:xfrm>
            <a:off x="411491" y="150876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25400">
            <a:solidFill>
              <a:srgbClr val="009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17236" y="164592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9EFF"/>
                </a:solidFill>
                <a:latin typeface="Calibri"/>
                <a:ea typeface="Calibri"/>
                <a:cs typeface="Calibri"/>
                <a:sym typeface="Calibri"/>
              </a:rPr>
              <a:t>🛡️  Defence Layer</a:t>
            </a:r>
            <a:endParaRPr sz="1100"/>
          </a:p>
        </p:txBody>
      </p:sp>
      <p:sp>
        <p:nvSpPr>
          <p:cNvPr id="154" name="Google Shape;154;p17"/>
          <p:cNvSpPr txBox="1"/>
          <p:nvPr/>
        </p:nvSpPr>
        <p:spPr>
          <a:xfrm>
            <a:off x="617236" y="212598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Firewalls are the essential first line of defence, filtering traffic between trusted and untrusted networks.</a:t>
            </a:r>
            <a:endParaRPr sz="1100"/>
          </a:p>
        </p:txBody>
      </p:sp>
      <p:sp>
        <p:nvSpPr>
          <p:cNvPr id="155" name="Google Shape;155;p17"/>
          <p:cNvSpPr/>
          <p:nvPr/>
        </p:nvSpPr>
        <p:spPr>
          <a:xfrm>
            <a:off x="3257637" y="150876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463382" y="164592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🔍  Evolving Tech</a:t>
            </a:r>
            <a:endParaRPr sz="1100"/>
          </a:p>
        </p:txBody>
      </p:sp>
      <p:sp>
        <p:nvSpPr>
          <p:cNvPr id="157" name="Google Shape;157;p17"/>
          <p:cNvSpPr txBox="1"/>
          <p:nvPr/>
        </p:nvSpPr>
        <p:spPr>
          <a:xfrm>
            <a:off x="3463382" y="212598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From simple packet filters to NGFWs with AI-driven threat intelligence, firewall technology continues to evolve.</a:t>
            </a:r>
            <a:endParaRPr sz="1100"/>
          </a:p>
        </p:txBody>
      </p:sp>
      <p:sp>
        <p:nvSpPr>
          <p:cNvPr id="158" name="Google Shape;158;p17"/>
          <p:cNvSpPr/>
          <p:nvPr/>
        </p:nvSpPr>
        <p:spPr>
          <a:xfrm>
            <a:off x="6103783" y="150876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16223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309528" y="1645920"/>
            <a:ext cx="2194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🔐  Layered Security</a:t>
            </a:r>
            <a:endParaRPr sz="1100"/>
          </a:p>
        </p:txBody>
      </p:sp>
      <p:sp>
        <p:nvSpPr>
          <p:cNvPr id="160" name="Google Shape;160;p17"/>
          <p:cNvSpPr txBox="1"/>
          <p:nvPr/>
        </p:nvSpPr>
        <p:spPr>
          <a:xfrm>
            <a:off x="6309528" y="2125980"/>
            <a:ext cx="21946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Firewalls alone are not enough — they must be part of a defence-in-depth strategy alongside IDS, IPS, and endpoint security.</a:t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1028725" y="3497575"/>
            <a:ext cx="7063800" cy="581400"/>
          </a:xfrm>
          <a:prstGeom prst="roundRect">
            <a:avLst>
              <a:gd fmla="val 16667" name="adj"/>
            </a:avLst>
          </a:prstGeom>
          <a:solidFill>
            <a:srgbClr val="141F35"/>
          </a:solidFill>
          <a:ln cap="flat" cmpd="sng" w="19050">
            <a:solidFill>
              <a:srgbClr val="009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1371637" y="3566160"/>
            <a:ext cx="63781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"A firewall is not a silver bullet, but without it you are shooting in the dark."</a:t>
            </a:r>
            <a:endParaRPr sz="1100"/>
          </a:p>
        </p:txBody>
      </p:sp>
      <p:sp>
        <p:nvSpPr>
          <p:cNvPr id="163" name="Google Shape;163;p17"/>
          <p:cNvSpPr txBox="1"/>
          <p:nvPr/>
        </p:nvSpPr>
        <p:spPr>
          <a:xfrm>
            <a:off x="1371637" y="3977640"/>
            <a:ext cx="637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17"/>
          <p:cNvSpPr/>
          <p:nvPr/>
        </p:nvSpPr>
        <p:spPr>
          <a:xfrm>
            <a:off x="0" y="5102352"/>
            <a:ext cx="9144015" cy="41148"/>
          </a:xfrm>
          <a:prstGeom prst="rect">
            <a:avLst/>
          </a:prstGeom>
          <a:solidFill>
            <a:srgbClr val="00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820700" y="42161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